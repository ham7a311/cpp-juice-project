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548640"/>
            <a:ext cx="2286000" cy="2286000"/>
          </a:xfrm>
          <a:prstGeom prst="ellipse">
            <a:avLst/>
          </a:prstGeom>
          <a:solidFill>
            <a:srgbClr val="FF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61320" y="685800"/>
            <a:ext cx="1097280" cy="1097280"/>
          </a:xfrm>
          <a:prstGeom prst="ellipse">
            <a:avLst/>
          </a:prstGeom>
          <a:solidFill>
            <a:srgbClr val="E2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02920" y="5440680"/>
            <a:ext cx="1188720" cy="1188720"/>
          </a:xfrm>
          <a:prstGeom prst="ellipse">
            <a:avLst/>
          </a:prstGeom>
          <a:solidFill>
            <a:srgbClr val="FFC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8138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53429"/>
                </a:solidFill>
                <a:latin typeface="Aptos"/>
              </a:rPr>
              <a:t>🍹 Juice Shop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68752"/>
                </a:solidFill>
                <a:latin typeface="Aptos"/>
              </a:rPr>
              <a:t>Object-Oriented Programming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23160"/>
            <a:ext cx="78638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15184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53429"/>
                </a:solidFill>
                <a:latin typeface="Aptos"/>
              </a:rPr>
              <a:t>C++ project for menu management, custom juice creation, order handling, and 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7223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06962"/>
                </a:solidFill>
                <a:latin typeface="Aptos"/>
              </a:rPr>
              <a:t>Designed to demonstrate core OOP concepts in a real-world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5760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53429"/>
                </a:solidFill>
                <a:latin typeface="Aptos"/>
              </a:rPr>
              <a:t>Course: Object-Oriented Programming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5303520"/>
            <a:ext cx="123444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C++ 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Project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What the system does and why it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731520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6858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F19127"/>
                </a:solidFill>
                <a:latin typeface="Aptos"/>
              </a:rPr>
              <a:t>• </a:t>
            </a:r>
            <a:r>
              <a:rPr sz="1600" dirty="0">
                <a:solidFill>
                  <a:srgbClr val="253429"/>
                </a:solidFill>
                <a:latin typeface="Aptos"/>
              </a:rPr>
              <a:t>A juice shop system that simulates the daily operations of a real juice store.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19127"/>
                </a:solidFill>
                <a:latin typeface="Aptos"/>
              </a:rPr>
              <a:t>• </a:t>
            </a:r>
            <a:r>
              <a:rPr sz="1600" dirty="0">
                <a:solidFill>
                  <a:srgbClr val="253429"/>
                </a:solidFill>
                <a:latin typeface="Aptos"/>
              </a:rPr>
              <a:t>Customers can view juices, place orders, choose size, and build custom juices.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19127"/>
                </a:solidFill>
                <a:latin typeface="Aptos"/>
              </a:rPr>
              <a:t>• </a:t>
            </a:r>
            <a:r>
              <a:rPr sz="1600" dirty="0">
                <a:solidFill>
                  <a:srgbClr val="253429"/>
                </a:solidFill>
                <a:latin typeface="Aptos"/>
              </a:rPr>
              <a:t>The shop can manage employees, menu items, orders, checkout, and payment methods.</a:t>
            </a:r>
          </a:p>
          <a:p>
            <a:pPr>
              <a:spcAft>
                <a:spcPts val="600"/>
              </a:spcAft>
            </a:pPr>
            <a:r>
              <a:rPr sz="1600" b="1" dirty="0">
                <a:solidFill>
                  <a:srgbClr val="F19127"/>
                </a:solidFill>
                <a:latin typeface="Aptos"/>
              </a:rPr>
              <a:t>•</a:t>
            </a:r>
            <a:r>
              <a:rPr lang="en-US" sz="1600" b="1" dirty="0">
                <a:solidFill>
                  <a:srgbClr val="F19127"/>
                </a:solidFill>
                <a:latin typeface="Aptos"/>
              </a:rPr>
              <a:t> </a:t>
            </a:r>
            <a:r>
              <a:rPr lang="en-US" sz="1600" dirty="0">
                <a:solidFill>
                  <a:srgbClr val="253429"/>
                </a:solidFill>
                <a:latin typeface="Aptos"/>
              </a:rPr>
              <a:t>The program applies major OOP concepts through connected classes instead of isolated examples.</a:t>
            </a:r>
            <a:endParaRPr sz="1600" dirty="0">
              <a:solidFill>
                <a:srgbClr val="25342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What the user can do inside the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1755648"/>
            <a:ext cx="530352" cy="530352"/>
          </a:xfrm>
          <a:prstGeom prst="ellipse">
            <a:avLst/>
          </a:prstGeom>
          <a:solidFill>
            <a:srgbClr val="FF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737360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3429"/>
                </a:solidFill>
                <a:latin typeface="Aptos"/>
              </a:rPr>
              <a:t>View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13055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Display available juices with base prices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54296" y="1755648"/>
            <a:ext cx="530352" cy="530352"/>
          </a:xfrm>
          <a:prstGeom prst="ellipse">
            <a:avLst/>
          </a:prstGeom>
          <a:solidFill>
            <a:srgbClr val="E2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737360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3429"/>
                </a:solidFill>
                <a:latin typeface="Aptos"/>
              </a:rPr>
              <a:t>Place 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213055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Customer chooses juice and 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50876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49056" y="1755648"/>
            <a:ext cx="530352" cy="530352"/>
          </a:xfrm>
          <a:prstGeom prst="ellipse">
            <a:avLst/>
          </a:prstGeom>
          <a:solidFill>
            <a:srgbClr val="FF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1737360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3429"/>
                </a:solidFill>
                <a:latin typeface="Aptos"/>
              </a:rPr>
              <a:t>Custom Juice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130552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Build a mix from selected ingredients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747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9536" y="3721608"/>
            <a:ext cx="530352" cy="530352"/>
          </a:xfrm>
          <a:prstGeom prst="ellipse">
            <a:avLst/>
          </a:prstGeom>
          <a:solidFill>
            <a:srgbClr val="E2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703320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3429"/>
                </a:solidFill>
                <a:latin typeface="Aptos"/>
              </a:rPr>
              <a:t>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096511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Pay by Cash, Visa, or American Express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4747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654296" y="3721608"/>
            <a:ext cx="530352" cy="530352"/>
          </a:xfrm>
          <a:prstGeom prst="ellipse">
            <a:avLst/>
          </a:prstGeom>
          <a:solidFill>
            <a:srgbClr val="FF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3703320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3429"/>
                </a:solidFill>
                <a:latin typeface="Aptos"/>
              </a:rPr>
              <a:t>Order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4096511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Store, display, report, and complete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34747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49056" y="3721608"/>
            <a:ext cx="530352" cy="530352"/>
          </a:xfrm>
          <a:prstGeom prst="ellipse">
            <a:avLst/>
          </a:prstGeom>
          <a:solidFill>
            <a:srgbClr val="E2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8" y="3703320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3429"/>
                </a:solidFill>
                <a:latin typeface="Aptos"/>
              </a:rPr>
              <a:t>Employee Handling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4096511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Random employee handles checkout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Class Relationships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How classes are connected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7899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Class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Relationship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70" b="1">
                          <a:solidFill>
                            <a:srgbClr val="FFFFFF"/>
                          </a:solidFill>
                          <a:latin typeface="Aptos"/>
                        </a:rPr>
                        <a:t>With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Inheritance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Person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Inheritance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Person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CashPayment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Inheritance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Payment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VisaPayment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Inheritance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Payment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AmericanExpressPayment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Inheritance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Payment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JuiceShop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Composition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Menu, Orders, Employees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Menu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Composition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Juice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Composition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Customer, Juice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OrderReport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Friend Class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0">
                          <a:solidFill>
                            <a:srgbClr val="253429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Person, Customer, and 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Shared identity + specialized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Person stores common data: name and phoneNumber.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Person is abstract because displayPersonInfo() is pure virtual.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Customer adds customerID and placeOrder().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Employee adds employeeID, role, processOrder(), and addJuiceToMenu().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371600"/>
            <a:ext cx="5577840" cy="2971800"/>
          </a:xfrm>
          <a:prstGeom prst="roundRect">
            <a:avLst/>
          </a:prstGeom>
          <a:solidFill>
            <a:srgbClr val="212A25"/>
          </a:solidFill>
          <a:ln w="12700">
            <a:solidFill>
              <a:srgbClr val="21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303520" cy="275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40">
                <a:solidFill>
                  <a:srgbClr val="EEF7EC"/>
                </a:solidFill>
                <a:latin typeface="Consolas"/>
              </a:rPr>
              <a:t>class Person {
protected:
    string name;
    string phoneNumber;
public:
    virtual void displayPersonInfo() const = 0;
};
class Customer : public Person { ... };
class Employee : public Person { ... };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572000"/>
            <a:ext cx="123444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Inheritance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572000"/>
            <a:ext cx="1234440" cy="301752"/>
          </a:xfrm>
          <a:prstGeom prst="round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Abstraction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4572000"/>
            <a:ext cx="105156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Override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Juice and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Menu stores juices and Juice calculates prices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53312"/>
            <a:ext cx="4754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251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Juice stores juiceName and basePrice.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calculatePrice(size) returns Small, Medium, or Large price.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Menu stores vector&lt;Juice&gt; availableJuices.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F19127"/>
                </a:solidFill>
                <a:latin typeface="Aptos"/>
              </a:rPr>
              <a:t>• </a:t>
            </a:r>
            <a:r>
              <a:rPr sz="1350">
                <a:solidFill>
                  <a:srgbClr val="253429"/>
                </a:solidFill>
                <a:latin typeface="Aptos"/>
              </a:rPr>
              <a:t>operator== lets Menu compare a Juice object with a name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417320"/>
            <a:ext cx="5577840" cy="2148840"/>
          </a:xfrm>
          <a:prstGeom prst="roundRect">
            <a:avLst/>
          </a:prstGeom>
          <a:solidFill>
            <a:srgbClr val="212A25"/>
          </a:solidFill>
          <a:ln w="12700">
            <a:solidFill>
              <a:srgbClr val="21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530352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EF7EC"/>
                </a:solidFill>
                <a:latin typeface="Consolas"/>
              </a:rPr>
              <a:t>bool Juice::operator==(string name) const {
    return juiceName == name;
}
if (availableJuices[i] == name) {
    // found juice
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844031"/>
            <a:ext cx="96012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Vectors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844031"/>
            <a:ext cx="1965960" cy="301752"/>
          </a:xfrm>
          <a:prstGeom prst="round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Operator Overloading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Order and OrderReport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Order stores the purchase; OrderReport accesses it as a friend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7548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251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Order contains one Customer and a vector of Juice + size pairs.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calculateTotal() sums each selected juice price.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operator&lt;&lt; is a friend function used to print order details.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OrderReport is a friend class that can access private order data for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325880"/>
            <a:ext cx="5577840" cy="3200400"/>
          </a:xfrm>
          <a:prstGeom prst="roundRect">
            <a:avLst/>
          </a:prstGeom>
          <a:solidFill>
            <a:srgbClr val="212A25"/>
          </a:solidFill>
          <a:ln w="12700">
            <a:solidFill>
              <a:srgbClr val="21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1435607"/>
            <a:ext cx="530352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>
                <a:solidFill>
                  <a:srgbClr val="EEF7EC"/>
                </a:solidFill>
                <a:latin typeface="Consolas"/>
              </a:rPr>
              <a:t>class Order {
private:
    Customer customer;
    vector&lt;pair&lt;Juice, char&gt;&gt; juices;
    string status;
public:
    friend class OrderReport;
    friend ostream&amp; operator&lt;&lt;(ostream&amp;, Order&amp;);
};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782312"/>
            <a:ext cx="132588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4782312"/>
            <a:ext cx="1508760" cy="301752"/>
          </a:xfrm>
          <a:prstGeom prst="round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Friend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4782312"/>
            <a:ext cx="132588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Friend 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JuiceBuilder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Custom juice creation using selectable ingredients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617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Customer selects ingredients from an available list.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Selected ingredients are stored in a vector.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Final custom price = basePrice + ingredients × ingredientPrice.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F19127"/>
                </a:solidFill>
                <a:latin typeface="Aptos"/>
              </a:rPr>
              <a:t>• </a:t>
            </a:r>
            <a:r>
              <a:rPr sz="1320">
                <a:solidFill>
                  <a:srgbClr val="253429"/>
                </a:solidFill>
                <a:latin typeface="Aptos"/>
              </a:rPr>
              <a:t>Throws invalid_argument if the customer tries to create a custom juice with no ingredients.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25880"/>
            <a:ext cx="5440680" cy="2286000"/>
          </a:xfrm>
          <a:prstGeom prst="roundRect">
            <a:avLst/>
          </a:prstGeom>
          <a:solidFill>
            <a:srgbClr val="212A25"/>
          </a:solidFill>
          <a:ln w="12700">
            <a:solidFill>
              <a:srgbClr val="21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435607"/>
            <a:ext cx="516636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EEF7EC"/>
                </a:solidFill>
                <a:latin typeface="Consolas"/>
              </a:rPr>
              <a:t>if (selectedIngredients.empty()) {
    throw invalid_argument(
        "Cannot create custom juice without ingredients."
    );
}
return Juice(customName, customPrice);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886200"/>
            <a:ext cx="5440680" cy="1645920"/>
          </a:xfrm>
          <a:prstGeom prst="roundRect">
            <a:avLst/>
          </a:prstGeom>
          <a:solidFill>
            <a:srgbClr val="FFE8CC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050791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3429"/>
                </a:solidFill>
                <a:latin typeface="Aptos"/>
              </a:rPr>
              <a:t>Available Ingredients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50799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53429"/>
                </a:solidFill>
                <a:latin typeface="Aptos"/>
              </a:rPr>
              <a:t>• Mango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450799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53429"/>
                </a:solidFill>
                <a:latin typeface="Aptos"/>
              </a:rPr>
              <a:t>• Strawberry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616" y="450799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53429"/>
                </a:solidFill>
                <a:latin typeface="Aptos"/>
              </a:rPr>
              <a:t>• Banana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89204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53429"/>
                </a:solidFill>
                <a:latin typeface="Aptos"/>
              </a:rPr>
              <a:t>• Pineapple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89204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53429"/>
                </a:solidFill>
                <a:latin typeface="Aptos"/>
              </a:rPr>
              <a:t>• Mint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0616" y="489204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53429"/>
                </a:solidFill>
                <a:latin typeface="Aptos"/>
              </a:rPr>
              <a:t>• 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Payment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Abstract class + polymorphic payment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49377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434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F19127"/>
                </a:solidFill>
                <a:latin typeface="Aptos"/>
              </a:rPr>
              <a:t>• </a:t>
            </a:r>
            <a:r>
              <a:rPr sz="1250">
                <a:solidFill>
                  <a:srgbClr val="253429"/>
                </a:solidFill>
                <a:latin typeface="Aptos"/>
              </a:rPr>
              <a:t>Payment is an abstract base class with pure virtual processPayment().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19127"/>
                </a:solidFill>
                <a:latin typeface="Aptos"/>
              </a:rPr>
              <a:t>• </a:t>
            </a:r>
            <a:r>
              <a:rPr sz="1250">
                <a:solidFill>
                  <a:srgbClr val="253429"/>
                </a:solidFill>
                <a:latin typeface="Aptos"/>
              </a:rPr>
              <a:t>CashPayment checks cash amount and calculates change.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19127"/>
                </a:solidFill>
                <a:latin typeface="Aptos"/>
              </a:rPr>
              <a:t>• </a:t>
            </a:r>
            <a:r>
              <a:rPr sz="1250">
                <a:solidFill>
                  <a:srgbClr val="253429"/>
                </a:solidFill>
                <a:latin typeface="Aptos"/>
              </a:rPr>
              <a:t>VisaPayment validates 16-digit card number.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19127"/>
                </a:solidFill>
                <a:latin typeface="Aptos"/>
              </a:rPr>
              <a:t>• </a:t>
            </a:r>
            <a:r>
              <a:rPr sz="1250">
                <a:solidFill>
                  <a:srgbClr val="253429"/>
                </a:solidFill>
                <a:latin typeface="Aptos"/>
              </a:rPr>
              <a:t>AmericanExpressPayment validates 15-digit card number.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F19127"/>
                </a:solidFill>
                <a:latin typeface="Aptos"/>
              </a:rPr>
              <a:t>• </a:t>
            </a:r>
            <a:r>
              <a:rPr sz="1250">
                <a:solidFill>
                  <a:srgbClr val="253429"/>
                </a:solidFill>
                <a:latin typeface="Aptos"/>
              </a:rPr>
              <a:t>checkoutOrder() uses Payment* to run the correct processPayment().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71600"/>
            <a:ext cx="5486400" cy="2560320"/>
          </a:xfrm>
          <a:prstGeom prst="roundRect">
            <a:avLst/>
          </a:prstGeom>
          <a:solidFill>
            <a:srgbClr val="212A25"/>
          </a:solidFill>
          <a:ln w="12700">
            <a:solidFill>
              <a:srgbClr val="212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481328"/>
            <a:ext cx="5212080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EF7EC"/>
                </a:solidFill>
                <a:latin typeface="Consolas"/>
              </a:rPr>
              <a:t>Payment* payment = nullptr;
payment = new CashPayment(total, cash);
// or new VisaPayment(...)
// or new AmericanExpressPayment(...)
payment-&gt;processPayment();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4251960"/>
            <a:ext cx="105156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Abstract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4251960"/>
            <a:ext cx="1325880" cy="301752"/>
          </a:xfrm>
          <a:prstGeom prst="round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Pure Virtual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4251960"/>
            <a:ext cx="1051560" cy="301752"/>
          </a:xfrm>
          <a:prstGeom prst="round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Override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4251960"/>
            <a:ext cx="1417320" cy="301752"/>
          </a:xfrm>
          <a:prstGeom prst="round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Polymorphism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OOP Concepts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Where each concept appears in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10" b="1">
                          <a:solidFill>
                            <a:srgbClr val="FFFFFF"/>
                          </a:solidFill>
                          <a:latin typeface="Aptos"/>
                        </a:rPr>
                        <a:t>Concept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0" b="1">
                          <a:solidFill>
                            <a:srgbClr val="FFFFFF"/>
                          </a:solidFill>
                          <a:latin typeface="Aptos"/>
                        </a:rPr>
                        <a:t>Where Used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Encapsulation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Private attributes + public getters/setters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Inheritance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Person → Customer/Employee; Payment → payment types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Abstraction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Person and Payment are abstract classes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Polymorphism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Payment* points to Cash/Visa/AmericanExpress objects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Operator Overloading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Juice::operator== and Order::operator&lt;&lt;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Friend Class / Function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OrderReport and operator&lt;&lt; access Order private data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Exception Handling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Payment, Juice, Employee, Menu, JuiceBuilder, JuiceShop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Vectors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253429"/>
                          </a:solidFill>
                          <a:latin typeface="Aptos"/>
                        </a:rPr>
                        <a:t>Menu juices, Order items, JuiceBuilder ingredients, JuiceShop orders/employees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Main scenario from start to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11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603504" cy="603504"/>
          </a:xfrm>
          <a:prstGeom prst="ellipse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88920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53429"/>
                </a:solidFill>
                <a:latin typeface="Aptos"/>
              </a:rPr>
              <a:t>Open system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2304288"/>
            <a:ext cx="914400" cy="0"/>
          </a:xfrm>
          <a:prstGeom prst="line">
            <a:avLst/>
          </a:prstGeom>
          <a:ln w="27940">
            <a:solidFill>
              <a:srgbClr val="F19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40280" y="2011680"/>
            <a:ext cx="603504" cy="603504"/>
          </a:xfrm>
          <a:prstGeom prst="ellipse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88920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53429"/>
                </a:solidFill>
                <a:latin typeface="Aptos"/>
              </a:rPr>
              <a:t>View menu / Build custom juice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2304288"/>
            <a:ext cx="914400" cy="0"/>
          </a:xfrm>
          <a:prstGeom prst="line">
            <a:avLst/>
          </a:prstGeom>
          <a:ln w="27940">
            <a:solidFill>
              <a:srgbClr val="F19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40480" y="2011680"/>
            <a:ext cx="603504" cy="603504"/>
          </a:xfrm>
          <a:prstGeom prst="ellipse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788920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53429"/>
                </a:solidFill>
                <a:latin typeface="Aptos"/>
              </a:rPr>
              <a:t>Enter customer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304288"/>
            <a:ext cx="914400" cy="0"/>
          </a:xfrm>
          <a:prstGeom prst="line">
            <a:avLst/>
          </a:prstGeom>
          <a:ln w="27940">
            <a:solidFill>
              <a:srgbClr val="F19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440680" y="2011680"/>
            <a:ext cx="603504" cy="603504"/>
          </a:xfrm>
          <a:prstGeom prst="ellipse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53429"/>
                </a:solidFill>
                <a:latin typeface="Aptos"/>
              </a:rPr>
              <a:t>Create 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304288"/>
            <a:ext cx="914400" cy="0"/>
          </a:xfrm>
          <a:prstGeom prst="line">
            <a:avLst/>
          </a:prstGeom>
          <a:ln w="27940">
            <a:solidFill>
              <a:srgbClr val="F19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040880" y="2011680"/>
            <a:ext cx="603504" cy="603504"/>
          </a:xfrm>
          <a:prstGeom prst="ellipse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88920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53429"/>
                </a:solidFill>
                <a:latin typeface="Aptos"/>
              </a:rPr>
              <a:t>Choose checkout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80960" y="2304288"/>
            <a:ext cx="914399" cy="0"/>
          </a:xfrm>
          <a:prstGeom prst="line">
            <a:avLst/>
          </a:prstGeom>
          <a:ln w="27940">
            <a:solidFill>
              <a:srgbClr val="F19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641080" y="2011680"/>
            <a:ext cx="603504" cy="603504"/>
          </a:xfrm>
          <a:prstGeom prst="ellipse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88920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53429"/>
                </a:solidFill>
                <a:latin typeface="Aptos"/>
              </a:rPr>
              <a:t>Process payment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81159" y="2304288"/>
            <a:ext cx="914400" cy="0"/>
          </a:xfrm>
          <a:prstGeom prst="line">
            <a:avLst/>
          </a:prstGeom>
          <a:ln w="27940">
            <a:solidFill>
              <a:srgbClr val="F191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241280" y="2011680"/>
            <a:ext cx="603504" cy="603504"/>
          </a:xfrm>
          <a:prstGeom prst="ellipse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788920"/>
            <a:ext cx="1234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19" b="0">
                <a:solidFill>
                  <a:srgbClr val="253429"/>
                </a:solidFill>
                <a:latin typeface="Aptos"/>
              </a:rPr>
              <a:t>Complete and remove 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4754880"/>
            <a:ext cx="8138160" cy="685800"/>
          </a:xfrm>
          <a:prstGeom prst="roundRect">
            <a:avLst/>
          </a:prstGeom>
          <a:solidFill>
            <a:srgbClr val="E2F4E6"/>
          </a:solidFill>
          <a:ln w="12700">
            <a:solidFill>
              <a:srgbClr val="E2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31720" y="4965192"/>
            <a:ext cx="7589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53429"/>
                </a:solidFill>
                <a:latin typeface="Aptos"/>
              </a:rPr>
              <a:t>The order is stored only until successful checkout. After payment, it is removed from the active orders 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Team Members and Work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1018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Member Name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Classes / Work Done</a:t>
                      </a:r>
                    </a:p>
                  </a:txBody>
                  <a:tcPr marL="45720" marR="45720" marT="27432" marB="27432">
                    <a:solidFill>
                      <a:srgbClr val="3687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Khalid Waleed Al-Aamri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24-0374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Employee, Customer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Ali Khalifa Al Harthy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24-0498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Payment, CashPayment, VisaPayment, AmericanExpressPayment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Hamza Hamed Al Bulushi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24-0367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Juice, Order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Mahmood Hamed Al Busaidi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24-0560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Person, OrderReport, JuiceBuilder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Taif Abdullah Al Badi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24-0473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53429"/>
                          </a:solidFill>
                          <a:latin typeface="Aptos"/>
                        </a:rPr>
                        <a:t>Menu, JuiceShop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1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"/>
            <a:ext cx="12191695" cy="45720"/>
          </a:xfrm>
          <a:prstGeom prst="rect">
            <a:avLst/>
          </a:prstGeom>
          <a:solidFill>
            <a:srgbClr val="36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53429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9611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06962"/>
                </a:solidFill>
                <a:latin typeface="Aptos"/>
              </a:rPr>
              <a:t>Final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5105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6962"/>
                </a:solidFill>
                <a:latin typeface="Aptos"/>
              </a:rPr>
              <a:t>Juice Shop OOP System  |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64008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691640"/>
            <a:ext cx="5806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19127"/>
                </a:solidFill>
                <a:latin typeface="Aptos"/>
              </a:rPr>
              <a:t>• </a:t>
            </a:r>
            <a:r>
              <a:rPr sz="1400">
                <a:solidFill>
                  <a:srgbClr val="253429"/>
                </a:solidFill>
                <a:latin typeface="Aptos"/>
              </a:rPr>
              <a:t>The Juice Shop System connects many OOP concepts inside one working C++ project.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19127"/>
                </a:solidFill>
                <a:latin typeface="Aptos"/>
              </a:rPr>
              <a:t>• </a:t>
            </a:r>
            <a:r>
              <a:rPr sz="1400">
                <a:solidFill>
                  <a:srgbClr val="253429"/>
                </a:solidFill>
                <a:latin typeface="Aptos"/>
              </a:rPr>
              <a:t>It models real juice shop operations using classes and relationships.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19127"/>
                </a:solidFill>
                <a:latin typeface="Aptos"/>
              </a:rPr>
              <a:t>• </a:t>
            </a:r>
            <a:r>
              <a:rPr sz="1400">
                <a:solidFill>
                  <a:srgbClr val="253429"/>
                </a:solidFill>
                <a:latin typeface="Aptos"/>
              </a:rPr>
              <a:t>It demonstrates inheritance, composition, abstraction, polymorphism, friends, exceptions, and operator overloading.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F19127"/>
                </a:solidFill>
                <a:latin typeface="Aptos"/>
              </a:rPr>
              <a:t>• </a:t>
            </a:r>
            <a:r>
              <a:rPr sz="1400">
                <a:solidFill>
                  <a:srgbClr val="253429"/>
                </a:solidFill>
                <a:latin typeface="Aptos"/>
              </a:rPr>
              <a:t>It includes menu management, custom juice building, order reporting, and multiple payment methods.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17320"/>
            <a:ext cx="3611880" cy="4251960"/>
          </a:xfrm>
          <a:prstGeom prst="roundRect">
            <a:avLst/>
          </a:prstGeom>
          <a:solidFill>
            <a:srgbClr val="E2F4E6"/>
          </a:solidFill>
          <a:ln w="12700">
            <a:solidFill>
              <a:srgbClr val="E2F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06840" y="201168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53429"/>
                </a:solidFill>
                <a:latin typeface="Aptos"/>
              </a:rPr>
              <a:t>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06324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53429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1111</Words>
  <Application>Microsoft Office PowerPoint</Application>
  <PresentationFormat>Widescreen</PresentationFormat>
  <Paragraphs>196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Mahmood Al Busaidi</cp:lastModifiedBy>
  <cp:revision>2</cp:revision>
  <dcterms:created xsi:type="dcterms:W3CDTF">2013-01-27T09:14:16Z</dcterms:created>
  <dcterms:modified xsi:type="dcterms:W3CDTF">2026-05-31T10:53:13Z</dcterms:modified>
  <cp:category/>
</cp:coreProperties>
</file>